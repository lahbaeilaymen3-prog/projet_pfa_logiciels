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 Net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520A"/>
              </a:solidFill>
              <a:effectLst/>
            </c:spPr>
          </c:dPt>
          <c:dPt>
            <c:idx val="1"/>
            <c:bubble3D val="0"/>
            <c:spPr>
              <a:solidFill>
                <a:srgbClr val="3A5FA8"/>
              </a:solidFill>
              <a:effectLst/>
            </c:spPr>
          </c:dPt>
          <c:dPt>
            <c:idx val="2"/>
            <c:bubble3D val="0"/>
            <c:spPr>
              <a:solidFill>
                <a:srgbClr val="2C6030"/>
              </a:solidFill>
              <a:effectLst/>
            </c:spPr>
          </c:dPt>
          <c:dPt>
            <c:idx val="3"/>
            <c:bubble3D val="0"/>
            <c:spPr>
              <a:solidFill>
                <a:srgbClr val="6D2046"/>
              </a:solidFill>
              <a:effectLst/>
            </c:spPr>
          </c:dPt>
          <c:dPt>
            <c:idx val="4"/>
            <c:bubble3D val="0"/>
            <c:spPr>
              <a:solidFill>
                <a:srgbClr val="5A6A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ID 247</c:v>
                </c:pt>
                <c:pt idx="1">
                  <c:v>ID 189</c:v>
                </c:pt>
                <c:pt idx="2">
                  <c:v>ID 312</c:v>
                </c:pt>
                <c:pt idx="3">
                  <c:v>ID 054</c:v>
                </c:pt>
                <c:pt idx="4">
                  <c:v>Autres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22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  <c:pt idx="4">
                  <c:v>33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029200" cy="5029200"/>
          </a:xfrm>
          <a:prstGeom prst="ellipse">
            <a:avLst/>
          </a:prstGeom>
          <a:solidFill>
            <a:srgbClr val="243580">
              <a:alpha val="35000"/>
            </a:srgbClr>
          </a:solidFill>
          <a:ln w="12700">
            <a:solidFill>
              <a:srgbClr val="24358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548640"/>
            <a:ext cx="2743200" cy="2743200"/>
          </a:xfrm>
          <a:prstGeom prst="ellipse">
            <a:avLst/>
          </a:prstGeom>
          <a:solidFill>
            <a:srgbClr val="3A5FA8">
              <a:alpha val="45000"/>
            </a:srgbClr>
          </a:solidFill>
          <a:ln w="12700">
            <a:solidFill>
              <a:srgbClr val="3A5FA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3200400"/>
            <a:ext cx="4114800" cy="4114800"/>
          </a:xfrm>
          <a:prstGeom prst="ellipse">
            <a:avLst/>
          </a:prstGeom>
          <a:solidFill>
            <a:srgbClr val="243580">
              <a:alpha val="28000"/>
            </a:srgbClr>
          </a:solidFill>
          <a:ln w="12700">
            <a:solidFill>
              <a:srgbClr val="24358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2011680" cy="11978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691640"/>
            <a:ext cx="2286000" cy="329184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91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Matière : Logiciels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0F0"/>
                </a:solidFill>
              </a:rPr>
              <a:t>Projet de Fin d'Année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Automatisation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des Ventes</a:t>
            </a:r>
            <a:endParaRPr lang="en-US" sz="5000" dirty="0"/>
          </a:p>
        </p:txBody>
      </p:sp>
      <p:sp>
        <p:nvSpPr>
          <p:cNvPr id="11" name="Shape 8"/>
          <p:cNvSpPr/>
          <p:nvPr/>
        </p:nvSpPr>
        <p:spPr>
          <a:xfrm>
            <a:off x="502920" y="4279392"/>
            <a:ext cx="457200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0F0"/>
                </a:solidFill>
              </a:rPr>
              <a:t>Aymen Lahbaeil  ·  Slim Hableni  ·  Ahmed Dridi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Contexte &amp; Objectif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43000"/>
            <a:ext cx="3977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3977640" cy="438912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430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🏪  Contexte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664208"/>
            <a:ext cx="3749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030"/>
                </a:solidFill>
              </a:rPr>
              <a:t>Une entreprise de e-commerce utilise un fichier Excel pour suivre ses ventes.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030"/>
                </a:solidFill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030"/>
                </a:solidFill>
              </a:rPr>
              <a:t>Le volume de données est devenu trop important pour un tableur classique.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030"/>
                </a:solidFill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030"/>
                </a:solidFill>
              </a:rPr>
              <a:t>Mission : créer un script Python capable d'automatiser l'analyse complète des données de ventes.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17720" y="1143000"/>
            <a:ext cx="4251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143000"/>
            <a:ext cx="4251960" cy="438912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1430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Objectif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773936"/>
            <a:ext cx="256032" cy="25603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5E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206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0"/>
                </a:solidFill>
              </a:rPr>
              <a:t>Générer &amp; lire ventes.csv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286000"/>
            <a:ext cx="256032" cy="25603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5E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20640" y="2249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0"/>
                </a:solidFill>
              </a:rPr>
              <a:t>Calculer CA Brut, CA Net, TVA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2798064"/>
            <a:ext cx="256032" cy="25603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5E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2064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0"/>
                </a:solidFill>
              </a:rPr>
              <a:t>Afficher le CA Total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3310128"/>
            <a:ext cx="256032" cy="25603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5E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20640" y="3273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0"/>
                </a:solidFill>
              </a:rPr>
              <a:t>Identifier le meilleur produit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3822192"/>
            <a:ext cx="256032" cy="25603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5E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20640" y="37856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0"/>
                </a:solidFill>
              </a:rPr>
              <a:t>Exporter resultats_final.csv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4334256"/>
            <a:ext cx="256032" cy="25603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5E"/>
                </a:solidFill>
              </a:rPr>
              <a:t>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2064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0"/>
                </a:solidFill>
              </a:rPr>
              <a:t>Générer des graphiques Matplotlib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Structure du Projet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15568"/>
            <a:ext cx="457200" cy="658368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4813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0"/>
                </a:solidFill>
              </a:rPr>
              <a:t>Script unique — menu interactif, calculs, graphiques (tout en un)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189280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892808"/>
            <a:ext cx="457200" cy="658368"/>
          </a:xfrm>
          <a:prstGeom prst="rect">
            <a:avLst/>
          </a:prstGeom>
          <a:solidFill>
            <a:srgbClr val="2C6030"/>
          </a:solidFill>
          <a:ln w="12700">
            <a:solidFill>
              <a:srgbClr val="2C60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8928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ventes.csv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22585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0"/>
                </a:solidFill>
              </a:rPr>
              <a:t>Fichier d'entrée des ventes — créé automatiquement par le programme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26700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670048"/>
            <a:ext cx="457200" cy="658368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6700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27249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resultats_final.csv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30358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0"/>
                </a:solidFill>
              </a:rPr>
              <a:t>Fichier de sortie — contient ID, Prix, Quantite, Remise, CA_Brut, CA_Net, TVA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344728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447288"/>
            <a:ext cx="457200" cy="658368"/>
          </a:xfrm>
          <a:prstGeom prst="rect">
            <a:avLst/>
          </a:prstGeom>
          <a:solidFill>
            <a:srgbClr val="6D2046"/>
          </a:solidFill>
          <a:ln w="12700">
            <a:solidFill>
              <a:srgbClr val="6D20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4472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0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3813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0"/>
                </a:solidFill>
              </a:rPr>
              <a:t>Documentation complète : utilisation, installation, exemples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4224528"/>
            <a:ext cx="457200" cy="658368"/>
          </a:xfrm>
          <a:prstGeom prst="rect">
            <a:avLst/>
          </a:prstGeom>
          <a:solidFill>
            <a:srgbClr val="5A6A80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2245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22960" y="4279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22960" y="45902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0"/>
                </a:solidFill>
              </a:rPr>
              <a:t>Fichiers ignorés par Git (PNG générés, __pycache__, etc.)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74320" y="4956048"/>
            <a:ext cx="8595360" cy="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Menu Principal — main.py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15568"/>
            <a:ext cx="4754880" cy="374904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15568"/>
            <a:ext cx="4754880" cy="292608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15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● ● ●   python main.py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4048" y="14630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🛒  Automatisation des Ventes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Créer ventes.csv (données d'exemple)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Générer ventes.csv (données aléatoires)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Analyser un fichier CSV existant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 Quitter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Votre choix : _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1115568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57800" y="1115568"/>
            <a:ext cx="502920" cy="1097280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1115568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852160" y="1207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0"/>
                </a:solidFill>
              </a:rPr>
              <a:t>Données d'exemple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852160" y="15727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Crée ventes.csv avec 3 lignes (ID 101, 102, 103). Confirmation avant écrasement.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57800" y="2368296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257800" y="2368296"/>
            <a:ext cx="502920" cy="1097280"/>
          </a:xfrm>
          <a:prstGeom prst="rect">
            <a:avLst/>
          </a:prstGeom>
          <a:solidFill>
            <a:srgbClr val="2C6030"/>
          </a:solidFill>
          <a:ln w="12700">
            <a:solidFill>
              <a:srgbClr val="2C60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236829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852160" y="245973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0"/>
                </a:solidFill>
              </a:rPr>
              <a:t>Données aléatoires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852160" y="282549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Génère N produits : prix 5-500€, quantité 1-20, remise parmi 0/5/10/15/20/25%.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57800" y="3621024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257800" y="3621024"/>
            <a:ext cx="502920" cy="1097280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362102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852160" y="371246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0"/>
                </a:solidFill>
              </a:rPr>
              <a:t>Analyser CSV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852160" y="40782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Lit le fichier, calcule les indicateurs, exporte CSV et génère les graphiques PNG.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Les Calculs — Questions 2, 3 &amp; 4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1556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15568"/>
            <a:ext cx="640080" cy="1170432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15568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1207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FA8"/>
                </a:solidFill>
              </a:rPr>
              <a:t>Chiffre d'Affaires Brut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5361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030"/>
                </a:solidFill>
              </a:rPr>
              <a:t>CA_Brut = Prix × Quantite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51560" y="1883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Ex : 15.0 × 3 = 45.00 €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1371600"/>
            <a:ext cx="3566160" cy="566928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13716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ca_brut = prix * quantite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432304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432304"/>
            <a:ext cx="640080" cy="1170432"/>
          </a:xfrm>
          <a:prstGeom prst="rect">
            <a:avLst/>
          </a:prstGeom>
          <a:solidFill>
            <a:srgbClr val="2C6030"/>
          </a:solidFill>
          <a:ln w="12700">
            <a:solidFill>
              <a:srgbClr val="2C60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432304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2523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030"/>
                </a:solidFill>
              </a:rPr>
              <a:t>Chiffre d'Affaires Net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28529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030"/>
                </a:solidFill>
              </a:rPr>
              <a:t>CA_Net = CA_Brut × (1 − Remise / 100)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515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Ex : 45.00 × (1 − 10/100) = 40.50 €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66360" y="2688336"/>
            <a:ext cx="3566160" cy="566928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85232" y="268833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ca_net = ca_brut * (1 - remise / 100)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74904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749040"/>
            <a:ext cx="640080" cy="1170432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749040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51560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20A"/>
                </a:solidFill>
              </a:rPr>
              <a:t>TVA 20%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51560" y="41696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030"/>
                </a:solidFill>
              </a:rPr>
              <a:t>TVA = CA_Net × 0.20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051560" y="4517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Ex : 40.50 × 0.20 = 8.10 €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166360" y="4005072"/>
            <a:ext cx="3566160" cy="566928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85232" y="40050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tva = ca_net * 0.20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Résultats &amp; Export — Questions 5, 6 &amp; 7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15568"/>
            <a:ext cx="4709160" cy="2286000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15568"/>
            <a:ext cx="4709160" cy="2743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15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A"/>
                </a:solidFill>
              </a:rPr>
              <a:t>● ● ●   Sortie terminal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84048" y="1444752"/>
            <a:ext cx="4526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📦 Nombre de produits : 1000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💰 CA Total : 2 845 123,45 EUR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🏆 Meilleur produit : ID 247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(9 870,00 EUR CA Net)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166360" y="1115568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66360" y="1115568"/>
            <a:ext cx="182880" cy="1005840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68112" y="11704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FA8"/>
                </a:solidFill>
              </a:rPr>
              <a:t>Q5 — CA Total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68112" y="1536192"/>
            <a:ext cx="3246120" cy="420624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153619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ca_total += ca_net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166360" y="2286000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66360" y="2286000"/>
            <a:ext cx="182880" cy="1115568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68112" y="23408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520A"/>
                </a:solidFill>
              </a:rPr>
              <a:t>Q6 — Meilleur produit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68112" y="2706624"/>
            <a:ext cx="3246120" cy="566928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270662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ca_net &gt; meilleur_ca_net: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meilleur_id = id_produit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547872"/>
            <a:ext cx="8595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547872"/>
            <a:ext cx="182880" cy="1572768"/>
          </a:xfrm>
          <a:prstGeom prst="rect">
            <a:avLst/>
          </a:prstGeom>
          <a:solidFill>
            <a:srgbClr val="2C6030"/>
          </a:solidFill>
          <a:ln w="12700">
            <a:solidFill>
              <a:srgbClr val="2C60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6118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030"/>
                </a:solidFill>
              </a:rPr>
              <a:t>Q7 — Export resultats_final.csv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94360" y="3950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0"/>
                </a:solidFill>
              </a:rPr>
              <a:t>Colonnes :  ID  ·  Prix  ·  Quantite  ·  Remise  ·  CA_Brut  ·  CA_Net  ·  TVA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4360" y="4224528"/>
            <a:ext cx="8138160" cy="713232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4224528"/>
            <a:ext cx="8001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ecrivain = csv.DictWriter(fichier_resultat, fieldnames=champs)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ecrivain.writeheader()    |    ecrivain.writerows(resultats)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Bonus — Graphiques Matplotlib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15568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15568"/>
            <a:ext cx="4206240" cy="420624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155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Barres Horizontales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6733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0"/>
                </a:solidFill>
              </a:rPr>
              <a:t>ID 247 ★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88720" y="1728216"/>
            <a:ext cx="2501798" cy="237744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1671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0"/>
                </a:solidFill>
              </a:rPr>
              <a:t>ID 189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188720" y="2221992"/>
            <a:ext cx="2040941" cy="237744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6609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0"/>
                </a:solidFill>
              </a:rPr>
              <a:t>ID 312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188720" y="2715768"/>
            <a:ext cx="1711757" cy="237744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1546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0"/>
                </a:solidFill>
              </a:rPr>
              <a:t>ID 054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188720" y="3209544"/>
            <a:ext cx="1448410" cy="237744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64845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0"/>
                </a:solidFill>
              </a:rPr>
              <a:t>ID 421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188720" y="3703320"/>
            <a:ext cx="1119226" cy="237744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251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• Classé par CA Net décroissant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• Meilleur produit en orange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• Pagination auto si &gt; 30 produits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• Fichier : graphique_barres.png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1115568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1115568"/>
            <a:ext cx="4206240" cy="420624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1155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🥧  Camembert de Répartition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709160" y="1572768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4800600" y="431596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• Top 9 + groupe 'Autres'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• Meilleur produit décalé (explode)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• Fichier : graphique_camembert.png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Bonus — Lecture Dynamique &amp; Robustesse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1556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15568"/>
            <a:ext cx="4206240" cy="384048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115568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📂  Lecture dynamique CSV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3619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Fonctionne pour tout fichier CSV, quelle que soit sa taille. Utilise csv.DictReader pour lire les colonnes par nom.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4048" y="2084832"/>
            <a:ext cx="3931920" cy="713232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08483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lecteur = csv.DictReader(fichier,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skipinitialspace=True)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9160" y="111556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115568"/>
            <a:ext cx="4206240" cy="384048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8888" y="1115568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Gestion des lignes invalides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18888" y="153619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Les lignes corrompues sont ignorées avec un avertissement — le programme continue sans s'arrêter.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18888" y="2084832"/>
            <a:ext cx="3931920" cy="713232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208483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(ValueError, KeyError):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print(f"⚠️  Ligne invalide")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308152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081528"/>
            <a:ext cx="4206240" cy="384048"/>
          </a:xfrm>
          <a:prstGeom prst="rect">
            <a:avLst/>
          </a:prstGeom>
          <a:solidFill>
            <a:srgbClr val="2C6030"/>
          </a:solidFill>
          <a:ln w="12700">
            <a:solidFill>
              <a:srgbClr val="2C60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3081528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Confirmation avant écrasement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4048" y="350215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Si ventes.csv existe déjà (option 1), le programme demande confirmation avant de le remplacer.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4050792"/>
            <a:ext cx="3931920" cy="713232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05079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 = input(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"Voulez-vous remplacer ? (o/n)")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09160" y="308152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3081528"/>
            <a:ext cx="4206240" cy="384048"/>
          </a:xfrm>
          <a:prstGeom prst="rect">
            <a:avLst/>
          </a:prstGeom>
          <a:solidFill>
            <a:srgbClr val="6D2046"/>
          </a:solidFill>
          <a:ln w="12700">
            <a:solidFill>
              <a:srgbClr val="6D204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18888" y="3081528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💾  Sauvegarde PNG avant affichage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18888" y="350215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Les graphiques sont d'abord sauvegardés en PNG puis affichés — garantit la création du fichier.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818888" y="4050792"/>
            <a:ext cx="3931920" cy="713232"/>
          </a:xfrm>
          <a:prstGeom prst="rect">
            <a:avLst/>
          </a:prstGeom>
          <a:solidFill>
            <a:srgbClr val="141C2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405079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sauvegarder(fig, dossier, nom)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  # après save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Environnement &amp; Installation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73152"/>
            <a:ext cx="100584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15568"/>
            <a:ext cx="8595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15568"/>
            <a:ext cx="475488" cy="768096"/>
          </a:xfrm>
          <a:prstGeom prst="rect">
            <a:avLst/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15568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1170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Langage principal  —  python.org/downloads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0" y="1252728"/>
            <a:ext cx="18288" cy="502920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1280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030"/>
                </a:solidFill>
              </a:rPr>
              <a:t>⚠️  Cocher 'Add Python to PATH' lors de l'installation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011680"/>
            <a:ext cx="8595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011680"/>
            <a:ext cx="475488" cy="768096"/>
          </a:xfrm>
          <a:prstGeom prst="rect">
            <a:avLst/>
          </a:prstGeom>
          <a:solidFill>
            <a:srgbClr val="2C6030"/>
          </a:solidFill>
          <a:ln w="12700">
            <a:solidFill>
              <a:srgbClr val="2C60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011680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1248" y="2066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1248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Éditeur recommandé  —  code.visualstudio.com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0" y="2148840"/>
            <a:ext cx="18288" cy="502920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0" y="21762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030"/>
                </a:solidFill>
              </a:rPr>
              <a:t>Installer l'extension Python (by Microsoft) via Ctrl+Shift+X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2907792"/>
            <a:ext cx="8595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907792"/>
            <a:ext cx="475488" cy="768096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2907792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41248" y="2962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5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41248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Seule dépendance Python externe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57600" y="3044952"/>
            <a:ext cx="18288" cy="502920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0" y="30723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030"/>
                </a:solidFill>
              </a:rPr>
              <a:t>Bibliothèques standard utilisées : csv, os, random (incluses par défaut)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74320" y="3803904"/>
            <a:ext cx="8595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3803904"/>
            <a:ext cx="475488" cy="768096"/>
          </a:xfrm>
          <a:prstGeom prst="rect">
            <a:avLst/>
          </a:prstGeom>
          <a:solidFill>
            <a:srgbClr val="6D2046"/>
          </a:solidFill>
          <a:ln w="12700">
            <a:solidFill>
              <a:srgbClr val="6D204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3803904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41248" y="3858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0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41248" y="4242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Gestion de version  —  git-scm.com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657600" y="3941064"/>
            <a:ext cx="18288" cy="502920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40480" y="3968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030"/>
                </a:solidFill>
              </a:rPr>
              <a:t>git add .  |  git commit -m "message"  |  git push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74320" y="4709160"/>
            <a:ext cx="8595360" cy="310896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7091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Vérification :  python --version   |   pip --version   →   Si version affichée ✅  C'est prêt 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243580">
              <a:alpha val="32000"/>
            </a:srgbClr>
          </a:solidFill>
          <a:ln w="12700">
            <a:solidFill>
              <a:srgbClr val="243580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3A5FA8">
              <a:alpha val="38000"/>
            </a:srgbClr>
          </a:solidFill>
          <a:ln w="12700">
            <a:solidFill>
              <a:srgbClr val="3A5FA8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28600"/>
            <a:ext cx="1828800" cy="1088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474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0F0"/>
                </a:solidFill>
              </a:rPr>
              <a:t>Ce que nous avons réalisé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Projet Accompli ✅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57200" y="1572768"/>
            <a:ext cx="822960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E"/>
                </a:solidFill>
              </a:rPr>
              <a:t>✔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1737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8"/>
                </a:solidFill>
              </a:rPr>
              <a:t>7 questions du sujet réalisées à 100 %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414016"/>
            <a:ext cx="274320" cy="274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E"/>
                </a:solidFill>
              </a:rPr>
              <a:t>✔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322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8"/>
                </a:solidFill>
              </a:rPr>
              <a:t>2 bonus complets : graphiques Matplotlib + lecture dynamique CSV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274320" cy="274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E"/>
                </a:solidFill>
              </a:rPr>
              <a:t>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" y="2907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8"/>
                </a:solidFill>
              </a:rPr>
              <a:t>Menu interactif à 3 options intégré directement dans main.py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584448"/>
            <a:ext cx="274320" cy="274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E"/>
                </a:solidFill>
              </a:rPr>
              <a:t>✔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" y="34930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8"/>
                </a:solidFill>
              </a:rPr>
              <a:t>Gestion robuste des erreurs et des lignes invalides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169664"/>
            <a:ext cx="274320" cy="274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E"/>
                </a:solidFill>
              </a:rPr>
              <a:t>✔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40782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F8"/>
                </a:solidFill>
              </a:rPr>
              <a:t>Code versionné sur GitHub avec README complet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0F0"/>
                </a:solidFill>
              </a:rPr>
              <a:t>Aymen Lahbaeil  ·  Slim Hableni  ·  Ahmed Dridi  —  Faculté des Sciences de Tunis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PFA - Automatisation des Ventes</dc:title>
  <dc:subject>PptxGenJS Presentation</dc:subject>
  <dc:creator>PptxGenJS</dc:creator>
  <cp:lastModifiedBy>PptxGenJS</cp:lastModifiedBy>
  <cp:revision>1</cp:revision>
  <dcterms:created xsi:type="dcterms:W3CDTF">2026-05-05T20:15:42Z</dcterms:created>
  <dcterms:modified xsi:type="dcterms:W3CDTF">2026-05-05T20:15:42Z</dcterms:modified>
</cp:coreProperties>
</file>